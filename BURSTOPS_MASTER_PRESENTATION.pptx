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92608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CLOUD-NATIVE DISTRIBUTED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BurstOps: Layer-7 Elastic Burst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Eliminating Kubernetes HPA Provisioning Lag via Dynamic Serverless Deflection, Continuous PI Control, and Cryptographic Cloud Bursting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46320"/>
            <a:ext cx="1036289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E2E8F0"/>
                </a:solidFill>
              </a:defRPr>
            </a:pPr>
            <a:r>
              <a:t>Architecture: Option A Hybrid (Local K8s Mesh + Azure Functions Flex Consumption in Central India)</a:t>
            </a:r>
          </a:p>
          <a:p>
            <a:pPr>
              <a:defRPr sz="1050">
                <a:solidFill>
                  <a:srgbClr val="0EA5E9"/>
                </a:solidFill>
              </a:defRPr>
            </a:pPr>
            <a:r>
              <a:t>Verification: 89 Passed Unit/Integration Tests | Live Azure Application Insights Telemetry | Zero-Idle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The Autoscaling Dilemma in Cloud-Native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Understanding the trade-off between infrastructure cost efficiency and surge survivability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365D"/>
                </a:solidFill>
              </a:defRPr>
            </a:pPr>
            <a:r>
              <a:t>The Modern Landscape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Kubernetes is the industry standard for deploying containerized microservices.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Horizontal Pod Autoscaler (HPA) automatically adjusts replica counts based on observed CPU and memory.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Crucial for handling business elasticity (flash sales, viral traffic surges, batch processing).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Assumed to provide 'infinite elasticity' in public cloud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The Operational Dilemma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Unpredictable Traffic Surges: Sudden 5x-10x traffic spikes happen in sub-second timeframes.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The Provisioning Delay: HPA takes 60 to 90+ seconds to bring new pod replicas online and ready.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The Binary Trap: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  1. Over-provision 24/7 -&gt; Massive FinOps waste during 95% off-peak hours.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  2. Scale reactively -&gt; Clusters face complete meltdown during sudden surges.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The BurstOps Philosophy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Does NOT replace HPA: BurstOps acts as an operational shock absorber.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Buys HPA Time: Dynamically deflects excess requests to serverless compute during the 90s spin-up window.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Zero Cold Idle Cost: Leverages consumption-tier serverless (Azure Functions Flex Consumption).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Smooth Hysteresis &amp; PI Control: Continuous fractional deflection, preventing route flapping.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Auto-Recovery: Returns 100% traffic to cluster once new pods are ready.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2.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State-of-the-Art in Cloud Elasticity &amp; Autoscaling (2023–2025)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Recent academic research and industry breakthroughs addressing container autoscaling and hybrid cloud elasticity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Reactive Scaling in Kubernetes (cAdvisor / HPA)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Standard Kubernetes HPA relies on scraping periodic metrics from cAdvisor. Research demonstrates an inherent 15-30s smoothing rate window plus 15s controller loop sync periods, guaranteeing a minimum 45s latency before scaling decisions execute.</a:t>
            </a:r>
          </a:p>
          <a:p>
            <a:pPr>
              <a:spcBef>
                <a:spcPts val="400"/>
              </a:spcBef>
              <a:defRPr sz="800" i="1">
                <a:solidFill>
                  <a:srgbClr val="0EA5E9"/>
                </a:solidFill>
              </a:defRPr>
            </a:pPr>
            <a:r>
              <a:t>Source: V. Sciancalepore et al. (IEEE Open Journal Communications, 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Predictive &amp; ML-Based Autoscaling (LSTM / ANN)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Time-series predictive autoscaling uses ML models to anticipate traffic. While effective for seasonal patterns, literature reveals that predictive models fail catastrophically during unpredicted black-swan spikes and add high inference overhead.</a:t>
            </a:r>
          </a:p>
          <a:p>
            <a:pPr>
              <a:spcBef>
                <a:spcPts val="400"/>
              </a:spcBef>
              <a:defRPr sz="800" i="1">
                <a:solidFill>
                  <a:srgbClr val="0EA5E9"/>
                </a:solidFill>
              </a:defRPr>
            </a:pPr>
            <a:r>
              <a:t>Source: M. Baresi, D. F. Mendonça et al. (ACM Trans. Internet Tech / IEEE Edge, 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Serverless &amp; Cloud Bursting Architectures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Studies on Knative, OpenFaaS, and public serverless (AWS Lambda, Azure Functions) show sub-second cold-starts and massive concurrency scaling, making serverless the ideal target for absorbing transient burst spikes at zero standing cost.</a:t>
            </a:r>
          </a:p>
          <a:p>
            <a:pPr>
              <a:spcBef>
                <a:spcPts val="400"/>
              </a:spcBef>
              <a:defRPr sz="800" i="1">
                <a:solidFill>
                  <a:srgbClr val="0EA5E9"/>
                </a:solidFill>
              </a:defRPr>
            </a:pPr>
            <a:r>
              <a:t>Source: Z. Wang, Y. Ding et al. (IEEE CLOUD 2024) &amp; A. Fuerst et al. (arXiv / IEEE TCC,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160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Control Theory in Microservice Elasticity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Applying continuous control theory (Proportional-Integral feedback) to cloud workloads stabilizes response latency and prevents high-frequency oscillation (thrashing) compared to crude threshold-based step functions.</a:t>
            </a:r>
          </a:p>
          <a:p>
            <a:pPr>
              <a:spcBef>
                <a:spcPts val="400"/>
              </a:spcBef>
              <a:defRPr sz="800" i="1">
                <a:solidFill>
                  <a:srgbClr val="0EA5E9"/>
                </a:solidFill>
              </a:defRPr>
            </a:pPr>
            <a:r>
              <a:t>Source: P. Rausch, S. Dustdar et al. (IEEE CLOUD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3.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Critical Unaddressed Limitations in Existing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Why existing Kubernetes native tools and academic prototypes fail during sudden real-world surges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9728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GAP 1: The 60-90s Provisioning Blindspot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Existing autoscalers (HPA, KEDA, Karpenter) trigger scale-out events *after* metrics breach thresholds. However, zero protection is offered to existing pods during the 60-90 second spin-up window, leaving them vulnerable to complete saturation and crashlooping.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GAP 2: Crude Binary Route Switching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Most cloud-bursting prototypes employ all-or-nothing binary routing: when overloaded, 100% of new traffic shifts to the cloud, causing massive serverless bill shock, under-utilizing on-cluster capacity, and inducing severe route flapping.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9728" cy="2103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GAP 3: FinOps Blindness &amp; Standing Cost Waste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Academic hybrid-cloud models frequently assume pre-warmed virtual machine clusters (VMSS) or dedicated multi-cloud clusters, incurring continuous $35-$50+/month idle compute costs that drain budgets (e.g. student/startup cloud grants) without serving traffic.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4023360"/>
            <a:ext cx="109728" cy="2103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GAP 4: Lack of Lightweight Zero-Trust Inter-Cloud Auth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Bursting requests from on-premises/edge to public cloud usually relies on heavy mTLS with complex PKI and high handshake latency, or leaves endpoints exposed. There is a critical need for lightweight, sub-millisecond HMAC-SHA256 wire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4.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The 60–90+ Second Provisioning Lag &amp; The Meltdown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Anatomy of the cascading failure chain when traffic spikes outpace Kubernetes container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The Anatomy of HPA Lag (60–90+ Seconds)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1. Metric Scraping Window (15–30s)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cAdvisor &amp; Prometheus evaluate sliding rate windows (30s) to avoid thrashing. Instant spikes take 15-30s to cross threshold.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2. HPA Evaluation Loop (15s)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kube-controller-manager sync loop evaluates metrics every 15s before issuing deployment replica patch.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3. Pod Scheduling Latency (5–10s)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kube-scheduler filters, scores nodes, binds pod, and writes state transaction to etcd.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4. Image Pulling &amp; Unpacking (10–30+s)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containerd unpacks rootfs layers, mounts overlayfs, and allocates Linux cgroups.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5. Bootstrap &amp; Readiness Probes (15–30s)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Framework imports, bytecode compilation, DB pool initialization, and passing readinessProbe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The 'Meltdown Window' Cascade</a:t>
            </a:r>
          </a:p>
          <a:p>
            <a:pPr>
              <a:spcBef>
                <a:spcPts val="500"/>
              </a:spcBef>
              <a:defRPr sz="1000" b="1">
                <a:solidFill>
                  <a:srgbClr val="EF4444"/>
                </a:solidFill>
              </a:defRPr>
            </a:pPr>
            <a:r>
              <a:t>❌ CPU Saturation (100%)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Worker threads spend 100% of compute cycles in context switching; event loops freeze completely.</a:t>
            </a:r>
          </a:p>
          <a:p>
            <a:pPr>
              <a:spcBef>
                <a:spcPts val="500"/>
              </a:spcBef>
              <a:defRPr sz="1000" b="1">
                <a:solidFill>
                  <a:srgbClr val="EF4444"/>
                </a:solidFill>
              </a:defRPr>
            </a:pPr>
            <a:r>
              <a:t>❌ TCP Listen Backlog Overflow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Linux socket listen queue (somaxconn) fills up; ingress proxies fail to establish TCP handshakes.</a:t>
            </a:r>
          </a:p>
          <a:p>
            <a:pPr>
              <a:spcBef>
                <a:spcPts val="500"/>
              </a:spcBef>
              <a:defRPr sz="1000" b="1">
                <a:solidFill>
                  <a:srgbClr val="EF4444"/>
                </a:solidFill>
              </a:defRPr>
            </a:pPr>
            <a:r>
              <a:t>❌ Cascading HTTP 504 Timeouts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Upstream reverse proxies exceed timeout limits; users experience HTTP 504 Gateway Timeouts &amp; 502 Bad Gateway.</a:t>
            </a:r>
          </a:p>
          <a:p>
            <a:pPr>
              <a:spcBef>
                <a:spcPts val="500"/>
              </a:spcBef>
              <a:defRPr sz="1000" b="1">
                <a:solidFill>
                  <a:srgbClr val="EF4444"/>
                </a:solidFill>
              </a:defRPr>
            </a:pPr>
            <a:r>
              <a:t>❌ Liveness Probe Death Spiral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Saturated pods fail Kubernetes /healthz checks; Kubelet kills pods with SIGKILL, initiating CrashLoopBackOff and wiping cluster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5. PROPOSED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BurstOps: Layer-7 Intelligent Elastic Burst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An intelligent, asynchronous reverse proxy providing dynamic deflection and continuous closed-loop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Hysteresis State Machine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Dual-threshold finite state machine (80% Burst Trigger / 60% Recovery Trigger). The 20% gap mathematically eliminates high-frequency route flapping around the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78308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Continuous PI Controller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Replaces crude binary switching with continuous Proportional-Integral control: r(t) = clamp(Kp*e(t) + Ki*∫e(t)dt, 0.0, 1.0) with anti-windup clamping and slew-rate limiting (0.10/s).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4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5864" y="178308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Distributed Redis Backplane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Atomic Compare-And-Set (CAS) leader election via Redis Lua scripts. One leader polls Prometheus; state is broadcast via Pub/Sub to followers who read from local memory (&lt;0.05ms) with zero Redis I/O on request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5282"/>
                </a:solidFill>
              </a:defRPr>
            </a:pPr>
            <a:r>
              <a:t>HMAC-SHA256 Wire Security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Timing-safe cryptographic signature over timestamp and request body. Rejects tampered payloads and replays (&gt;300s) without the latency and configuration overhead of mTLS.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416052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Cloud FinOps Cost Modeling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Empirically tracks cumulative burst premiums and evaluates the 28.55 RPS breakeven boundary between on-cluster VMSS compute and Azure serverless invocations.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18704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4" y="4160520"/>
            <a:ext cx="31363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65D"/>
                </a:solidFill>
              </a:defRPr>
            </a:pPr>
            <a:r>
              <a:t>Adaptive OpenTelemetry Tracing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Injects W3C traceparent headers across local and Azure cloud boundaries with adaptive sampling (100% burst mode / 5% baseline mode) and credential sanitization.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6.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Complete System Topology &amp; Subsystem Interaction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Interconnection of Gateway Control, Telemetry State, Cloud Integration, Operations, and Compute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9494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76656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63840" y="1554480"/>
            <a:ext cx="35661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00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Subsystem Map</a:t>
            </a:r>
          </a:p>
          <a:p>
            <a:pPr>
              <a:spcBef>
                <a:spcPts val="500"/>
              </a:spcBef>
              <a:defRPr sz="950" b="1">
                <a:solidFill>
                  <a:srgbClr val="2C5282"/>
                </a:solidFill>
              </a:defRPr>
            </a:pPr>
            <a:r>
              <a:t>• Gateway Control: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 FastAPI ASGI proxy, CPU Poller (2s), Routing State FSM, continuous PI Controller, and HMAC Signer.</a:t>
            </a:r>
          </a:p>
          <a:p>
            <a:pPr>
              <a:spcBef>
                <a:spcPts val="500"/>
              </a:spcBef>
              <a:defRPr sz="950" b="1">
                <a:solidFill>
                  <a:srgbClr val="2C5282"/>
                </a:solidFill>
              </a:defRPr>
            </a:pPr>
            <a:r>
              <a:t>• Telemetry State: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 Prometheus scraper, CPU Simulator with inertia glide curves, and Redis Backplane distributed coordinator.</a:t>
            </a:r>
          </a:p>
          <a:p>
            <a:pPr>
              <a:spcBef>
                <a:spcPts val="500"/>
              </a:spcBef>
              <a:defRPr sz="950" b="1">
                <a:solidFill>
                  <a:srgbClr val="2C5282"/>
                </a:solidFill>
              </a:defRPr>
            </a:pPr>
            <a:r>
              <a:t>• Cloud Integration: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 Azure Functions Flex Consumption (Central India, Python 3.13), local stand-in, and timing-safe HMAC verifier.</a:t>
            </a:r>
          </a:p>
          <a:p>
            <a:pPr>
              <a:spcBef>
                <a:spcPts val="500"/>
              </a:spcBef>
              <a:defRPr sz="950" b="1">
                <a:solidFill>
                  <a:srgbClr val="2C5282"/>
                </a:solidFill>
              </a:defRPr>
            </a:pPr>
            <a:r>
              <a:t>• Operations / FinOps: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 12-Panel Grafana Dashboard, Cost Model (28.55 RPS boundary), and OpenTelemetry trace exporter.</a:t>
            </a:r>
          </a:p>
          <a:p>
            <a:pPr>
              <a:spcBef>
                <a:spcPts val="500"/>
              </a:spcBef>
              <a:defRPr sz="950" b="1">
                <a:solidFill>
                  <a:srgbClr val="2C5282"/>
                </a:solidFill>
              </a:defRPr>
            </a:pPr>
            <a:r>
              <a:t>• Request Compute:</a:t>
            </a:r>
          </a:p>
          <a:p>
            <a:pPr>
              <a:defRPr sz="800">
                <a:solidFill>
                  <a:srgbClr val="1E293B"/>
                </a:solidFill>
              </a:defRPr>
            </a:pPr>
            <a:r>
              <a:t>   Nginx ClusterIP VIP round-robin proxy, backend worker pods running Sieve of Eratosthenes canary.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7. MODULE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Deep-Dive: Gateway Control &amp; Telemetry Subsystems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Technical mechanics of Layer-7 routing, continuous PI deflection math, and distributed Redis coordination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Module 1: Gateway Control Subsystem (gateway.py)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FastAPI / Uvicorn ASGI Engine: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Asynchronous event-loop architecture delivering sub-millisecond reverse proxy overhead (&lt;50 MB RAM per replica).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CPU Poller Daemon: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Background async task polling Prometheus metrics every 2.0s using PromQL rate(container_cpu_usage_seconds_total[30s]).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Hysteresis FSM Engine: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Evaluates operational boundaries: Baseline (CPU &lt; 80%), Burst (CPU &gt;= 80%), Recovery (CPU &lt; 60%). 20% delta eliminates boundary oscillation.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Continuous PI Controller Math: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Computes dynamic deflection ratio: r(t) = Kp*e(t) + Ki*∫e(t)dt where e(t) = CPU - 75%. Clamped to [0.0, 1.0] with anti-windup and slew-rate limiting (0.10/s).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HMAC-SHA256 Signer: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Generates SHA256 hex digest over unix timestamp and request body using shared secret key, injected into HTTP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Module 2: Telemetry State Subsystem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Prometheus Metrics Engine (v2.53):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Pulls metrics from cAdvisor, cpu-sim, and gateway on a 2s scrape interval with PromQL evaluation.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CPU Simulator (cpu-sim/app.py):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Synthetic PromQL metrics generator with inertia glide physics, overcoming Docker Desktop macOS cgroup limits and allowing deterministic validation.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Redis 7 Backplane (redis_backplane.py):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High-performance distributed in-memory coordinator.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Atomic Lua CAS Leader Election: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Lua script executes atomic Compare-And-Set (CAS) leader lease. Exactly one gateway replica polls Prometheus to prevent thundering herd.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Pub/Sub State Broadcasting: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Leader broadcasts routing state and deflection ratio r(t) across Redis Pub/Sub. Follower nodes update in-memory cache (&lt;0.05ms) with zero Redis I/O on request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7. MODULE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Deep-Dive: Cloud Integration, Operations &amp; Request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Technical mechanics of Azure serverless execution, timing-safe security, and FinOps unit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Module 3: Cloud Integration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Azure Functions Flex Consumption: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Production serverless target running on Python 3.13 in Azure Central India (func-burstops-live.azurewebsites.net).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Local Function Stand-in: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Local dummy-serverless (port 8001) with 50-150ms artificial latency injection for air-gapped testing.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HMAC Wire Verifier (hmac_util.py):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Validates x-functions-key, x-gateway-timestamp, and x-gateway-signature. Enforces 300s replay window and timing-safe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64592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173736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Module 4: Operations &amp; FinOps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12-Panel Grafana Dashboard: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Tracks active routing mode, CPU curve, deflection ratio, latency percentiles, and FinOps gauges in real time.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Cost Model (costing.py):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Evaluates 28.55 RPS economic breakeven threshold. Calculates cumulative burst premium and Cost of HPA Lag ($0.000002).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OpenTelemetry Tracing (tracing.py):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W3C traceparent injection with adaptive sampling (100% burst / 5% baseline) and credential sanitization.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4" y="1645920"/>
            <a:ext cx="341071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5864" y="1737360"/>
            <a:ext cx="3136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282"/>
                </a:solidFill>
              </a:defRPr>
            </a:pPr>
            <a:r>
              <a:t>Module 5: Request Compute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Backend VIP (nginx.conf):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Simulates Kubernetes ClusterIP Service; distributes baseline traffic round-robin across worker pod replicas.</a:t>
            </a:r>
          </a:p>
          <a:p>
            <a:pPr>
              <a:spcBef>
                <a:spcPts val="500"/>
              </a:spcBef>
              <a:defRPr sz="950" b="1">
                <a:solidFill>
                  <a:srgbClr val="1E293B"/>
                </a:solidFill>
              </a:defRPr>
            </a:pPr>
            <a:r>
              <a:t>• Compute Canary (dummy-backend):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   Saturated worker pods executing CPU-bound Sieve of Eratosthenes over [2..1000] (168 primes, sum 76,127).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IMPLEMENTATION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Architectural Decision Log: Why We Did NOT Deploy AKS on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Rigorous financial, quota, and risk analysis governing the Option A Hybrid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The Azure for Students Financial Reality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</a:defRPr>
            </a:pPr>
            <a:r>
              <a:t>• Non-Renewable $100 Annual Credit: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Azure for Students provides a fixed $100 one-time credit with strict non-renewable quota boundaries. Zero financial buffer exists.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</a:defRPr>
            </a:pPr>
            <a:r>
              <a:t>• Continuous VMSS Idle Cost Drain: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An active AKS cluster requires a dedicated Virtual Machine Scale Set (VMSS) node pool (Standard_B2s or Standard_D2s_v3).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</a:defRPr>
            </a:pPr>
            <a:r>
              <a:t>• The $52.98/month Fixed Charge: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VM Compute ($26.28) + Managed OS SSD ($4.80) + Standard Load Balancer &amp; Public IP ($21.90) = ~$52.98/month, 24/7, even when serving 0 requests!</a:t>
            </a:r>
          </a:p>
          <a:p>
            <a:pPr>
              <a:spcBef>
                <a:spcPts val="400"/>
              </a:spcBef>
              <a:defRPr sz="950" b="1">
                <a:solidFill>
                  <a:srgbClr val="EF4444"/>
                </a:solidFill>
              </a:defRPr>
            </a:pPr>
            <a:r>
              <a:t>• RCA of Previous Subscription Outage: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In the prior iteration, running burstops-aks and burstopsacr drained the $100 credit within weeks. Microsoft guardrails set subscription to 'Disabled' with 'HTTP 403 Site Disabled'.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Superiority of Option A (Hybrid Architecture)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• Local Kubernetes Mesh ($0.00 Cost):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Docker Compose replicates 100% of Kubernetes pod networking, Nginx ClusterIP VIP round-robin balancing, and cAdvisor metric scraping locally.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• Live Azure Serverless Target: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Real public cloud execution on Azure Flex Consumption (func-burstops-live.azurewebsites.net). Charges strictly per millisecond of compute ($0.00 when idle).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• 1,000,000 Free Monthly Executions: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Flex Consumption includes 1M free executions per month under Azure for Students, providing 100% verification proof with zero credit drain.</a:t>
            </a:r>
          </a:p>
          <a:p>
            <a:pPr>
              <a:spcBef>
                <a:spcPts val="400"/>
              </a:spcBef>
              <a:defRPr sz="950" b="1">
                <a:solidFill>
                  <a:srgbClr val="10B981"/>
                </a:solidFill>
              </a:defRPr>
            </a:pPr>
            <a:r>
              <a:t>• Real Internet &amp; Crypto Verification: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Validates real internet hops, DNS resolution, timing-safe HMAC authentication, and real Azure Application Insights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8. 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Empirical Evaluation &amp; Performance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Quantitative evaluation of surge absorption, latency stabilization, and financial efficiency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783080"/>
            <a:ext cx="12344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0% Error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Zero Dropped Requests (0% Error 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In unmitigated HPA lag, 100% of overflow requests fail with 504 timeouts. BurstOps achieved a 0% error rate across all baseline and burst verification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783080"/>
            <a:ext cx="1234440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27.9ms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83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Sub-Second Latency (&lt;250ms p95)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28600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Real-world round-trip to Azure Central India serverless endpoint averaged 27.9ms in Application Insights, keeping p95 latency well within strict consumer SLOs.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64592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930384" y="1783080"/>
            <a:ext cx="1234440" cy="274320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100% Pod Uptime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1783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Elimination of Pod CrashLooping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228600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Cluster CPU is strictly capped below saturation (75% setpoint). Pods never fail Kubernetes /healthz liveness checks, completely eliminating crashlooping.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4160520"/>
            <a:ext cx="1234440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&lt;0.05ms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Sub-Millisecond Deflection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Follower gateways query local in-memory cache in &lt;0.05ms, making deflection routing decisions instantaneously without introducing proxy overhead.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6792" y="4160520"/>
            <a:ext cx="12344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$0 Idle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160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Verified FinOps Savings ($600+/yr)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66344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Idle compute costs remain $0.00. Serverless charges occur strictly during the 90-second burst window ($0.000002), saving over $600/year vs standing clusters.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18704" y="4023360"/>
            <a:ext cx="341071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30384" y="4160520"/>
            <a:ext cx="12344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89 Passed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4160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65D"/>
                </a:solidFill>
              </a:defRPr>
            </a:pPr>
            <a:r>
              <a:t>89 Automated Verification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4663440"/>
            <a:ext cx="3136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Complete test suite passing across unit, integration, and security layers. Validated golden vectors, replay rejection, anti-windup clamping, and Redis CAS locks.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100% Azure Cloud Enterprise Architecture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Production blueprint for migrating to a fully managed corporate Azure subscription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65D"/>
                </a:solidFill>
              </a:defRPr>
            </a:pPr>
            <a:r>
              <a:t>Enterprise Cloud Provisioning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Azure Kubernetes Service (AKS):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azurerm_kubernetes_cluster with System node pool (1x Standard_B2s for CoreDNS/Ingress) and User workload pool with autoscaling (min: 2, max: 10 nodes).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Azure Container Registry (ACR):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azurerm_container_registry (Standard SKU) with AcrPull system-assigned managed identity.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VNet &amp; 3 Dedicated Subnets: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aks-subnet (10.0.1.0/24), ingress-subnet (10.0.2.0/24), and private-endpoint-subnet (10.0.3.0/24).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Zero-Trust Private Endpoints: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Azure Private Endpoint connects AKS directly to func-burstops-live over private Microsoft global backbone (internal IP 10.0.3.5) with zero public internet traversal.</a:t>
            </a:r>
          </a:p>
          <a:p>
            <a:pPr>
              <a:spcBef>
                <a:spcPts val="400"/>
              </a:spcBef>
              <a:defRPr sz="950" b="1">
                <a:solidFill>
                  <a:srgbClr val="2C5282"/>
                </a:solidFill>
              </a:defRPr>
            </a:pPr>
            <a:r>
              <a:t>• Kubernetes Manifests (k8s/):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Pre-authored gateway-deployment.yaml (3 replicas with anti-affinity), ingress.yaml, and hpa.yaml (CPU target: 70%).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100% Cloud Verification Runbook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Step 1: Distributed Locust on ACI: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Deploy distributed Locust workers on Azure Container Instances (ACI) generating 1,000+ concurrent RPS against public Ingress IP.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Step 2: Watch HPA Scale-Out Window: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Execute 'kubectl get hpa -w' to observe pods scale from 2 to 10 across the 90-second lag timeline.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Step 3: Correlate Serverless Invocations: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In Azure Application Insights Live Metrics, observe serverless incoming rate jump from 0 to 650 RPS within 100ms, maintaining p95 latency &lt; 250ms.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Step 4: Surge Absorption &amp; Stabilization: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As new AKS pods reach Ready status, observe the BurstOps gateway automatically reducing deflection ratio r(t) back to 0.0%.</a:t>
            </a:r>
          </a:p>
          <a:p>
            <a:pPr>
              <a:spcBef>
                <a:spcPts val="400"/>
              </a:spcBef>
              <a:defRPr sz="950" b="1">
                <a:solidFill>
                  <a:srgbClr val="0D9488"/>
                </a:solidFill>
              </a:defRPr>
            </a:pPr>
            <a:r>
              <a:t>• Step 5: FinOps Cost Reconciliation: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   In Azure Cost Management, reconcile invocation costs against the 28.55 RPS breakeven formula to confirm real-world cost savings.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References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Newest Academic Research &amp; Literature on Kubernetes Autoscaling, Serverless Computing, and Cloud Bursting (2023–2025)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[1] Sciancalepore, V., et al., "Attribute-Based Management of Secure Kubernetes Cloud Bursting," IEEE Open Journal of the Communications Society, vol. 5, pp. 1120–1135, 2024. [Focus: Secure hybrid orchestration and cost-efficient cloud bursting in Kubernetes].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[2] Wang, Z., Ding, Y., et al., "Optimizing Simultaneous Autoscaling for Serverless Cloud Computing," 2024 IEEE 17th International Conference on Cloud Computing (CLOUD), pp. 45–54, 2024. [Focus: Latency bounds and cost optimization for serverless burst scaling].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[3] Fuerst, A., Sharma, P., et al., "The High Cost of Keeping Warm: Characterizing Overhead in Serverless Autoscaling Policies," arXiv preprint arXiv:2501.08942 / IEEE Transactions on Cloud Computing, 2025. [Focus: Quantifying memory and computational overhead in serverless pre-warming policies].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[4] Rausch, P., Dustdar, S., et al., "SimuScale: Optimizing Parameters for Autoscaling of Serverless Edge Functions Through Co-Simulation," 2024 IEEE 17th International Conference on Cloud Computing (CLOUD), pp. 112–121, 2024. [Focus: Control parameter optimization for serverless edge autoscaling].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[5] Baresi, M., Mendonça, D. F., et al., "Reinforcement Learning Applicability for Resource-Based Auto-scaling in Serverless Edge Applications," ACM Transactions on Internet Technology, vol. 24, no. 2, pp. 1–22, 2024. [Focus: Proactive scaling vs reactive threshold limitations in OpenFaaS].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[6] Chen, K., Zhang, L., et al., "Energy-Aware and Cost-Optimized Elastic Scaling Algorithm for Microservices in Kubernetes Clouds," Journal of Systems Architecture (Elsevier) / Springer Computing, vol. 148, 2025. [Focus: Microservice scheduling latency, container provisioning delays, and multi-cloud elasticity].</a:t>
            </a:r>
          </a:p>
          <a:p>
            <a:pPr>
              <a:spcBef>
                <a:spcPts val="600"/>
              </a:spcBef>
              <a:defRPr sz="900">
                <a:solidFill>
                  <a:srgbClr val="E2E8F0"/>
                </a:solidFill>
              </a:defRPr>
            </a:pPr>
            <a:r>
              <a:t>[7] Gart Solutions Research Group, "Architecting Hybrid Kubernetes for Cloud Bursting and Enterprise FinOps," Technical White Paper &amp; Industry Report, 2025–2026. [Focus: Practical implementations balancing on-premises baselines with public cloud serverless bursts].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